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7967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6EA8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PITCH · OCT 2026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31795"/>
            <a:ext cx="10883392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b="1" i="0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dataderby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4015105"/>
            <a:ext cx="1088339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football data pipeline that remembers every state the source reported.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data flows, step by step</a:t>
            </a:r>
            <a:endParaRPr lang="en-US" sz="3200" dirty="0"/>
          </a:p>
        </p:txBody>
      </p:sp>
      <p:pic>
        <p:nvPicPr>
          <p:cNvPr id="3" name="Image 0" descr="Pipeline flow from fixtures to marts with reject and retry path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13840"/>
            <a:ext cx="10566400" cy="330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069840"/>
            <a:ext cx="1088339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“Checked, nothing new” is a success. “Fetch failed” is not. The ledger keeps them apart.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2348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4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dataderby · architecture · 2/7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 model: two clocks, five tables</a:t>
            </a:r>
            <a:endParaRPr lang="en-US" sz="3200" dirty="0"/>
          </a:p>
        </p:txBody>
      </p:sp>
      <p:pic>
        <p:nvPicPr>
          <p:cNvPr id="3" name="Image 0" descr="Entity diagram: team source ids, team dimension, snapshot header, fact table, competition dimension">    </p:cNvPr>
          <p:cNvPicPr>
            <a:picLocks noChangeAspect="1"/>
          </p:cNvPicPr>
          <p:nvPr/>
        </p:nvPicPr>
        <p:blipFill>
          <a:blip r:embed="rId1"/>
          <a:srcRect l="0" r="0" t="-17" b="-17"/>
          <a:stretch/>
        </p:blipFill>
        <p:spPr>
          <a:xfrm>
            <a:off x="812800" y="1513839"/>
            <a:ext cx="10566400" cy="355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323839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fact row = one team at one accepted snapshot. The competition sits on the snapshot, so one team can appear in many competitions.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2348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4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dataderby · architecture · 3/7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Publish all 20 teams, or nothing</a:t>
            </a:r>
            <a:endParaRPr lang="en-US" sz="3200" dirty="0"/>
          </a:p>
        </p:txBody>
      </p:sp>
      <p:pic>
        <p:nvPicPr>
          <p:cNvPr id="3" name="Image 0" descr="Two candidate snapshots: 18 of 20 teams rejected, 20 of 20 accepted">    </p:cNvPr>
          <p:cNvPicPr>
            <a:picLocks noChangeAspect="1"/>
          </p:cNvPicPr>
          <p:nvPr/>
        </p:nvPicPr>
        <p:blipFill>
          <a:blip r:embed="rId1"/>
          <a:srcRect l="-11" r="-11" t="0" b="0"/>
          <a:stretch/>
        </p:blipFill>
        <p:spPr>
          <a:xfrm>
            <a:off x="812800" y="1513839"/>
            <a:ext cx="10566400" cy="1841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5975" y="3612514"/>
            <a:ext cx="2520950" cy="1143212"/>
          </a:xfrm>
          <a:prstGeom prst="roundRect">
            <a:avLst>
              <a:gd name="adj" fmla="val 8610"/>
            </a:avLst>
          </a:prstGeom>
          <a:solidFill>
            <a:srgbClr val="1F252E"/>
          </a:solidFill>
          <a:ln w="6350">
            <a:solidFill>
              <a:srgbClr val="2C34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0551" y="3817091"/>
            <a:ext cx="2175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Identity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20551" y="4121891"/>
            <a:ext cx="217515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duplicate team in a snapshot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95675" y="3612514"/>
            <a:ext cx="2520950" cy="1143212"/>
          </a:xfrm>
          <a:prstGeom prst="roundRect">
            <a:avLst>
              <a:gd name="adj" fmla="val 8610"/>
            </a:avLst>
          </a:prstGeom>
          <a:solidFill>
            <a:srgbClr val="1F252E"/>
          </a:solidFill>
          <a:ln w="6350">
            <a:solidFill>
              <a:srgbClr val="2C34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00251" y="3817091"/>
            <a:ext cx="2175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Completeness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700251" y="4121891"/>
            <a:ext cx="217515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expected teams, all sections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5375" y="3612514"/>
            <a:ext cx="2520950" cy="1143212"/>
          </a:xfrm>
          <a:prstGeom prst="roundRect">
            <a:avLst>
              <a:gd name="adj" fmla="val 8610"/>
            </a:avLst>
          </a:prstGeom>
          <a:solidFill>
            <a:srgbClr val="1F252E"/>
          </a:solidFill>
          <a:ln w="6350">
            <a:solidFill>
              <a:srgbClr val="2C34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9951" y="3817091"/>
            <a:ext cx="2175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79951" y="4121891"/>
            <a:ext cx="217515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Fields and types as expected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855075" y="3612514"/>
            <a:ext cx="2520950" cy="1143212"/>
          </a:xfrm>
          <a:prstGeom prst="roundRect">
            <a:avLst>
              <a:gd name="adj" fmla="val 8610"/>
            </a:avLst>
          </a:prstGeom>
          <a:solidFill>
            <a:srgbClr val="1F252E"/>
          </a:solidFill>
          <a:ln w="6350">
            <a:solidFill>
              <a:srgbClr val="2C34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9651" y="3817091"/>
            <a:ext cx="2175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059651" y="4121891"/>
            <a:ext cx="217515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 + away = overall. Warn, then retry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39"/>
            <a:ext cx="2348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dataderby · architecture · 4/7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Edge cases and what the pipeline does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1902" y="1522941"/>
          <a:ext cx="10557298" cy="3785235"/>
        </p:xfrm>
        <a:graphic>
          <a:graphicData uri="http://schemas.openxmlformats.org/drawingml/2006/table">
            <a:tbl>
              <a:tblPr/>
              <a:tblGrid>
                <a:gridCol w="5278649"/>
                <a:gridCol w="5278649"/>
              </a:tblGrid>
              <a:tr h="42058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5C646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goes wrong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5C646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we do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0DB"/>
                    </a:solidFill>
                  </a:tcPr>
                </a:tc>
              </a:tr>
              <a:tr h="42058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1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Table changes, detail fetch fails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Keep old checkpoint. Retry.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3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8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1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18 of 20 teams returned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Reject. Old snapshot stays latest.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8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1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Source is late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Log “source late”. Bounded retries.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8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1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Same run retried twice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Two raw files, one snapshot.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8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1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Provider adds or drops a field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Fail on drift. Raw file kept.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8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1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Value missing in payload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Store NULL. Never zero.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8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1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Two matches end together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window, one run.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582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12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Wrong season label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4ED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Check ids against the request URL.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52400" marR="152400" marT="63500" marB="63500" anchor="t">
                    <a:lnL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1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2348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4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dataderby · architecture · 5/7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Safeguards: the checkpoint only moves on success</a:t>
            </a:r>
            <a:endParaRPr lang="en-US" sz="3200" dirty="0"/>
          </a:p>
        </p:txBody>
      </p:sp>
      <p:pic>
        <p:nvPicPr>
          <p:cNvPr id="3" name="Image 0" descr="Seen states S1 to S3 versus committed states S1 and S2, with S3 retried">    </p:cNvPr>
          <p:cNvPicPr>
            <a:picLocks noChangeAspect="1"/>
          </p:cNvPicPr>
          <p:nvPr/>
        </p:nvPicPr>
        <p:blipFill>
          <a:blip r:embed="rId1"/>
          <a:srcRect l="0" r="0" t="-19" b="-19"/>
          <a:stretch/>
        </p:blipFill>
        <p:spPr>
          <a:xfrm>
            <a:off x="812800" y="1513839"/>
            <a:ext cx="10566400" cy="2095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5975" y="3866514"/>
            <a:ext cx="2520950" cy="1357842"/>
          </a:xfrm>
          <a:prstGeom prst="roundRect">
            <a:avLst>
              <a:gd name="adj" fmla="val 7249"/>
            </a:avLst>
          </a:prstGeom>
          <a:solidFill>
            <a:srgbClr val="1F252E"/>
          </a:solidFill>
          <a:ln w="6350">
            <a:solidFill>
              <a:srgbClr val="2C344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0551" y="4071091"/>
            <a:ext cx="2175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 up raw files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20551" y="4375891"/>
            <a:ext cx="217515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site cannot be replayed. Copy raw JSON off this machine.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95675" y="3866514"/>
            <a:ext cx="2520950" cy="1357842"/>
          </a:xfrm>
          <a:prstGeom prst="roundRect">
            <a:avLst>
              <a:gd name="adj" fmla="val 7249"/>
            </a:avLst>
          </a:prstGeom>
          <a:solidFill>
            <a:srgbClr val="1F252E"/>
          </a:solidFill>
          <a:ln w="6350">
            <a:solidFill>
              <a:srgbClr val="2C34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00251" y="4071091"/>
            <a:ext cx="2175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the licence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700251" y="4375891"/>
            <a:ext cx="217515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source terms before any client use.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5375" y="3866514"/>
            <a:ext cx="2520950" cy="1357842"/>
          </a:xfrm>
          <a:prstGeom prst="roundRect">
            <a:avLst>
              <a:gd name="adj" fmla="val 7249"/>
            </a:avLst>
          </a:prstGeom>
          <a:solidFill>
            <a:srgbClr val="1F252E"/>
          </a:solidFill>
          <a:ln w="6350">
            <a:solidFill>
              <a:srgbClr val="2C34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79951" y="4071091"/>
            <a:ext cx="2175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Prove the skip rule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79951" y="4375891"/>
            <a:ext cx="2175152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Does an unchanged table mean unchanged details? Measure it.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855075" y="3866514"/>
            <a:ext cx="2520950" cy="1357842"/>
          </a:xfrm>
          <a:prstGeom prst="roundRect">
            <a:avLst>
              <a:gd name="adj" fmla="val 7249"/>
            </a:avLst>
          </a:prstGeom>
          <a:solidFill>
            <a:srgbClr val="1F252E"/>
          </a:solidFill>
          <a:ln w="6350">
            <a:solidFill>
              <a:srgbClr val="2C34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9651" y="4071091"/>
            <a:ext cx="217515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2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 the parser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059651" y="4375891"/>
            <a:ext cx="2175152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Fingerprint the logic so a fix triggers a rebuild.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39"/>
            <a:ext cx="2348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dataderby · architecture · 6/7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small, then grow on triggers</a:t>
            </a:r>
            <a:endParaRPr lang="en-US" sz="3200" dirty="0"/>
          </a:p>
        </p:txBody>
      </p:sp>
      <p:pic>
        <p:nvPicPr>
          <p:cNvPr id="3" name="Image 0" descr="Roadmap from v1 to v5 with the trigger for each step">    </p:cNvPr>
          <p:cNvPicPr>
            <a:picLocks noChangeAspect="1"/>
          </p:cNvPicPr>
          <p:nvPr/>
        </p:nvPicPr>
        <p:blipFill>
          <a:blip r:embed="rId1"/>
          <a:srcRect l="0" r="0" t="-9" b="-9"/>
          <a:stretch/>
        </p:blipFill>
        <p:spPr>
          <a:xfrm>
            <a:off x="812800" y="1513839"/>
            <a:ext cx="10566400" cy="228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053839"/>
            <a:ext cx="10883392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v1 gate:</a:t>
            </a:r>
            <a:r>
              <a:rPr lang="en-US" sz="1500" dirty="0">
                <a:solidFill>
                  <a:srgbClr val="1C21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scrape one competition twice. The second run finds “no change”. A failed fetch retries. Every snapshot has all teams.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12800" y="4822189"/>
            <a:ext cx="10883392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5C64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Multi-source ready from day one: team_source_id maps each source id to one team_key.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234861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64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dataderby · architecture · 7/7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derby — Pipeline Architecture">
  <a:themeElements>
    <a:clrScheme name="dataderby — Pipeline Architecture">
      <a:dk1>
        <a:srgbClr val="1C2128"/>
      </a:dk1>
      <a:lt1>
        <a:srgbClr val="F4F2EC"/>
      </a:lt1>
      <a:dk2>
        <a:srgbClr val="525559"/>
      </a:dk2>
      <a:lt2>
        <a:srgbClr val="DEDDD8"/>
      </a:lt2>
      <a:accent1>
        <a:srgbClr val="6EA8FF"/>
      </a:accent1>
      <a:accent2>
        <a:srgbClr val="9AA3AE"/>
      </a:accent2>
      <a:accent3>
        <a:srgbClr val="5C646E"/>
      </a:accent3>
      <a:accent4>
        <a:srgbClr val="9AA0A6"/>
      </a:accent4>
      <a:accent5>
        <a:srgbClr val="727576"/>
      </a:accent5>
      <a:accent6>
        <a:srgbClr val="939494"/>
      </a:accent6>
      <a:hlink>
        <a:srgbClr val="0563C1"/>
      </a:hlink>
      <a:folHlink>
        <a:srgbClr val="954F72"/>
      </a:folHlink>
    </a:clrScheme>
    <a:fontScheme name="dataderby — Pipeline Architecture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dataderby — Pipeline Architecture</dc:title>
  <dc:subject/>
  <dc:creator/>
  <cp:lastModifiedBy/>
  <cp:revision>1</cp:revision>
  <dcterms:created xsi:type="dcterms:W3CDTF">2026-10-19T07:01:29Z</dcterms:created>
  <dcterms:modified xsi:type="dcterms:W3CDTF">2026-10-19T07:01:29Z</dcterms:modified>
</cp:coreProperties>
</file>